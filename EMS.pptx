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1134" y="-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5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02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35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2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44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213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9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33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4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0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1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6103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53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86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46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24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69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231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Employee Management System (EMS)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213612" cy="176954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A Role-Driven Enterprise Web Application</a:t>
            </a:r>
          </a:p>
          <a:p>
            <a:r>
              <a:rPr lang="en-US" dirty="0">
                <a:solidFill>
                  <a:schemeClr val="bg2"/>
                </a:solidFill>
              </a:rPr>
              <a:t>Presented By: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Akshit Jain, Shweta, Nikita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Technology: Django | Db.sqlite3 | Chart.js</a:t>
            </a: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chemeClr val="bg2"/>
                </a:solidFill>
              </a:rPr>
              <a:t>Executive Summar</a:t>
            </a:r>
            <a:r>
              <a:rPr lang="en-US" b="1" dirty="0">
                <a:solidFill>
                  <a:schemeClr val="bg2"/>
                </a:solidFill>
              </a:rPr>
              <a:t>y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8AC37-3819-2B61-FDBB-6514AB208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3200" b="1" dirty="0">
                <a:solidFill>
                  <a:schemeClr val="bg2"/>
                </a:solidFill>
              </a:rPr>
              <a:t>Project Overview</a:t>
            </a:r>
          </a:p>
          <a:p>
            <a:pPr marL="3690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Employee Management System (EMS) is a secure web-based enterprise solution designed to manage: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Employee lifecycle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Attendance tracking &amp; HR verification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Task assignment &amp; monitoring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Leave management workflow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OTP-based authentication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Real-time dashboards &amp; analytics</a:t>
            </a:r>
          </a:p>
          <a:p>
            <a:pPr marL="3690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The system centralizes workforce management and ensures operational transparency.</a:t>
            </a:r>
          </a:p>
          <a:p>
            <a:pPr marL="36900" indent="0">
              <a:buNone/>
            </a:pPr>
            <a:endParaRPr lang="en-US" sz="1600" dirty="0">
              <a:solidFill>
                <a:schemeClr val="bg2"/>
              </a:solidFill>
            </a:endParaRPr>
          </a:p>
          <a:p>
            <a:pPr marL="36900" indent="0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Business Objectives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828370"/>
          </a:xfrm>
        </p:spPr>
        <p:txBody>
          <a:bodyPr>
            <a:normAutofit fontScale="62500" lnSpcReduction="20000"/>
          </a:bodyPr>
          <a:lstStyle/>
          <a:p>
            <a:pPr marL="36900" indent="0">
              <a:buNone/>
            </a:pPr>
            <a:r>
              <a:rPr lang="en-US" sz="4200" b="1" dirty="0">
                <a:solidFill>
                  <a:schemeClr val="bg2"/>
                </a:solidFill>
              </a:rPr>
              <a:t>Primary Goals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Automate HR operations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Improve attendance compliance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Enhance productivity monitoring</a:t>
            </a:r>
          </a:p>
          <a:p>
            <a:pPr marL="36900" indent="0">
              <a:buClr>
                <a:schemeClr val="bg2"/>
              </a:buClr>
              <a:buNone/>
            </a:pPr>
            <a:r>
              <a:rPr lang="en-US" sz="4200" b="1" dirty="0">
                <a:solidFill>
                  <a:schemeClr val="bg2"/>
                </a:solidFill>
              </a:rPr>
              <a:t>Key KPIs (</a:t>
            </a:r>
            <a:r>
              <a:rPr lang="en-IN" sz="2500" dirty="0">
                <a:solidFill>
                  <a:schemeClr val="bg1"/>
                </a:solidFill>
                <a:effectLst/>
              </a:rPr>
              <a:t>Key Performance Indicator</a:t>
            </a:r>
            <a:r>
              <a:rPr lang="en-US" sz="4200" b="1" dirty="0">
                <a:solidFill>
                  <a:schemeClr val="bg2"/>
                </a:solidFill>
              </a:rPr>
              <a:t>)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Attendance accuracy rate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Task completion rate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Leave approval turnaround time</a:t>
            </a:r>
          </a:p>
          <a:p>
            <a:pPr marL="36900" indent="0">
              <a:buClr>
                <a:schemeClr val="bg2"/>
              </a:buClr>
              <a:buNone/>
            </a:pPr>
            <a:r>
              <a:rPr lang="en-US" sz="4200" b="1" dirty="0">
                <a:solidFill>
                  <a:schemeClr val="bg2"/>
                </a:solidFill>
              </a:rPr>
              <a:t>Strategic Impact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Reduced manual errors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Improved data visibility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Better workforce planning</a:t>
            </a:r>
          </a:p>
          <a:p>
            <a:pPr marL="36900" indent="0">
              <a:buClr>
                <a:schemeClr val="bg2"/>
              </a:buClr>
              <a:buNone/>
            </a:pPr>
            <a:endParaRPr lang="en-US" sz="1600" dirty="0"/>
          </a:p>
          <a:p>
            <a:pPr marL="36900" indent="0">
              <a:buClr>
                <a:schemeClr val="bg2"/>
              </a:buClr>
              <a:buNone/>
            </a:pPr>
            <a:endParaRPr lang="en-US" sz="1600" dirty="0">
              <a:solidFill>
                <a:schemeClr val="bg2"/>
              </a:solidFill>
            </a:endParaRPr>
          </a:p>
          <a:p>
            <a:pPr marL="3690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36900" indent="0">
              <a:buNone/>
            </a:pP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System Architecture</a:t>
            </a:r>
            <a:endParaRPr b="1" dirty="0">
              <a:solidFill>
                <a:schemeClr val="bg2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152E39-942A-6188-737D-29A8E657A3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 rot="10800000" flipH="1" flipV="1">
            <a:off x="330200" y="1689101"/>
            <a:ext cx="2829092" cy="1852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928726F6-1807-3DFC-6E9C-82C287D67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307" y="1889016"/>
            <a:ext cx="2265212" cy="16527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5298A20-9E23-D8E1-E6FE-D496BCF75179}"/>
              </a:ext>
            </a:extLst>
          </p:cNvPr>
          <p:cNvSpPr txBox="1"/>
          <p:nvPr/>
        </p:nvSpPr>
        <p:spPr>
          <a:xfrm>
            <a:off x="894080" y="3850692"/>
            <a:ext cx="7586340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Architecture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Backend: Django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Database: Db.Sqlite3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Frontend: Bootstrap / Tailwind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Charts: Chart.js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Background Tasks: Celery + Redis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Email: SMTP Backend</a:t>
            </a:r>
          </a:p>
          <a:p>
            <a:r>
              <a:rPr lang="en-US" sz="1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Follows modular app-based Django structure.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 </a:t>
            </a:r>
            <a:b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1600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DDC66A-72F2-27E6-35C0-7D8C7E290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811" y="1689101"/>
            <a:ext cx="3294897" cy="18526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User Roles &amp; Access Control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20644-1386-7961-A7C8-622774605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5125550"/>
          </a:xfrm>
        </p:spPr>
        <p:txBody>
          <a:bodyPr>
            <a:normAutofit fontScale="92500" lnSpcReduction="20000"/>
          </a:bodyPr>
          <a:lstStyle/>
          <a:p>
            <a:pPr marL="36900" indent="0">
              <a:buNone/>
            </a:pPr>
            <a:r>
              <a:rPr lang="en-US" sz="2400" b="1" dirty="0">
                <a:solidFill>
                  <a:schemeClr val="bg2"/>
                </a:solidFill>
              </a:rPr>
              <a:t>Role-Based Access Control (RBAC)</a:t>
            </a:r>
          </a:p>
          <a:p>
            <a:pPr marL="36900" indent="0">
              <a:buNone/>
            </a:pPr>
            <a:r>
              <a:rPr lang="en-US" sz="2200" b="1" dirty="0">
                <a:solidFill>
                  <a:schemeClr val="bg2"/>
                </a:solidFill>
              </a:rPr>
              <a:t>1. Admin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Full system control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Employee creation &amp; management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 analytics</a:t>
            </a:r>
          </a:p>
          <a:p>
            <a:pPr marL="36900" indent="0">
              <a:buNone/>
            </a:pPr>
            <a:r>
              <a:rPr lang="en-US" sz="22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2. </a:t>
            </a:r>
            <a:r>
              <a:rPr lang="en-US" sz="22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HR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Attendance verification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assignment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Leave</a:t>
            </a:r>
          </a:p>
          <a:p>
            <a:pPr marL="36900" indent="0">
              <a:buNone/>
            </a:pPr>
            <a:r>
              <a:rPr lang="en-US" sz="22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3</a:t>
            </a:r>
            <a:r>
              <a:rPr lang="en-US" sz="22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. </a:t>
            </a:r>
            <a:r>
              <a:rPr lang="en-US" sz="2200" b="1" dirty="0">
                <a:solidFill>
                  <a:schemeClr val="bg2"/>
                </a:solidFill>
                <a:effectLst>
                  <a:outerShdw blurRad="38100" dist="38100" dir="2700000" algn="tl" rotWithShape="0">
                    <a:srgbClr val="000000">
                      <a:alpha val="43137"/>
                    </a:srgbClr>
                  </a:outerShdw>
                </a:effectLst>
              </a:rPr>
              <a:t>Employee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 attendance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Apply leave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 salary &amp; tasks</a:t>
            </a:r>
          </a:p>
          <a:p>
            <a:pPr marL="36900" indent="0">
              <a:buNone/>
            </a:pP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Strict middleware protection prevents unauthorized access</a:t>
            </a:r>
            <a:r>
              <a:rPr lang="en-US" sz="19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.</a:t>
            </a:r>
          </a:p>
          <a:p>
            <a:pPr marL="36900" indent="0">
              <a:buNone/>
            </a:pPr>
            <a:endParaRPr lang="en-US" dirty="0">
              <a:solidFill>
                <a:schemeClr val="bg2"/>
              </a:solidFill>
              <a:effectLst/>
              <a:latin typeface="ui-sans-serif"/>
            </a:endParaRPr>
          </a:p>
          <a:p>
            <a:pPr marL="36900" indent="0">
              <a:buNone/>
            </a:pPr>
            <a:endParaRPr lang="en-US" dirty="0">
              <a:solidFill>
                <a:schemeClr val="bg2"/>
              </a:solidFill>
              <a:effectLst/>
              <a:latin typeface="ui-sans-serif"/>
            </a:endParaRPr>
          </a:p>
          <a:p>
            <a:pPr marL="36900" indent="0">
              <a:buNone/>
            </a:pPr>
            <a:endParaRPr lang="en-US" dirty="0">
              <a:solidFill>
                <a:srgbClr val="0D0D0D"/>
              </a:solidFill>
              <a:effectLst/>
              <a:latin typeface="ui-sans-serif"/>
            </a:endParaRPr>
          </a:p>
          <a:p>
            <a:pPr marL="369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Authentication &amp; Security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sz="2400" b="1" dirty="0">
                <a:solidFill>
                  <a:schemeClr val="bg2"/>
                </a:solidFill>
              </a:rPr>
              <a:t>Features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Email-based login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Secure password hashing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OTP verification (6-digit, 5-minute validity)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Account lock after 5 failed attempts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Password reset via email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Audit logging</a:t>
            </a:r>
          </a:p>
          <a:p>
            <a:pPr marL="36900" indent="0">
              <a:buNone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 is enforced through Django authentication system and middleware.</a:t>
            </a:r>
          </a:p>
          <a:p>
            <a:pPr marL="36900" indent="0">
              <a:buNone/>
            </a:pPr>
            <a:endParaRPr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Admin Module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26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Capabilities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Add Employee / HR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Auto-generate Employee ID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Send OTP email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Activate/Deactivate accounts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View attendance &amp; salary summaries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Organization-level dashboards</a:t>
            </a:r>
          </a:p>
          <a:p>
            <a:pPr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26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Admin Dashboard Includes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Total Employees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Department Distribution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Salary Expense Summary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i-sans-serif"/>
              </a:rPr>
              <a:t>Monthly Attendance Trends</a:t>
            </a:r>
          </a:p>
          <a:p>
            <a:pPr marL="3690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HR Module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83AEF-5110-833D-9581-5563530B8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383030"/>
            <a:ext cx="7765322" cy="522351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Management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 tasks with deadline &amp; priority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Track lifecycle (Assigned → Completed)</a:t>
            </a:r>
          </a:p>
          <a:p>
            <a:pPr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Attendance Verification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Approve / Reject attendance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Modify hours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Auto-mark absent</a:t>
            </a:r>
          </a:p>
          <a:p>
            <a:pPr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Leave Management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Approve / Reject leave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D0D0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Prevent date overlap</a:t>
            </a:r>
          </a:p>
          <a:p>
            <a:pPr marL="3690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Employee Module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sz="2200" b="1" dirty="0">
                <a:solidFill>
                  <a:schemeClr val="bg2"/>
                </a:solidFill>
              </a:rPr>
              <a:t>Dashboard Features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Today’s Attendance Status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Active Tasks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Leave Balance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Salary Summary</a:t>
            </a:r>
          </a:p>
          <a:p>
            <a:pPr marL="36900" indent="0">
              <a:buNone/>
            </a:pPr>
            <a:r>
              <a:rPr lang="en-US" sz="2200" b="1" dirty="0">
                <a:solidFill>
                  <a:schemeClr val="bg2"/>
                </a:solidFill>
              </a:rPr>
              <a:t>Panels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Task Panel (Accept/Reject/Upload work)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Attendance Panel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Leave Panel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Salary Panel (Download </a:t>
            </a:r>
            <a:r>
              <a:rPr lang="en-US" sz="1700" dirty="0" err="1">
                <a:solidFill>
                  <a:schemeClr val="bg2"/>
                </a:solidFill>
              </a:rPr>
              <a:t>Payslip</a:t>
            </a:r>
            <a:r>
              <a:rPr lang="en-US" sz="1700" dirty="0">
                <a:solidFill>
                  <a:schemeClr val="bg2"/>
                </a:solidFill>
              </a:rPr>
              <a:t>)</a:t>
            </a:r>
          </a:p>
          <a:p>
            <a:pPr marL="3690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Real-Time Dashboard Analytics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AD48EB-9D5F-2C70-DFD8-50461E06B0DC}"/>
              </a:ext>
            </a:extLst>
          </p:cNvPr>
          <p:cNvSpPr txBox="1"/>
          <p:nvPr/>
        </p:nvSpPr>
        <p:spPr>
          <a:xfrm>
            <a:off x="685346" y="3429001"/>
            <a:ext cx="777330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Charts Implemented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Task Status Pie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Attendance Trend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Leave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updates dynamically without full reload.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4F736-08F5-C8B1-8CD1-9A7E89C28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6" y="1665913"/>
            <a:ext cx="3276660" cy="1638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C24150-E4C1-ED16-C91A-CD6D22D4F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620" y="1688123"/>
            <a:ext cx="3253740" cy="16328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Database Design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0E116-85F8-1261-26E4-33BE51C65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965530"/>
          </a:xfrm>
        </p:spPr>
        <p:txBody>
          <a:bodyPr>
            <a:normAutofit fontScale="47500" lnSpcReduction="20000"/>
          </a:bodyPr>
          <a:lstStyle/>
          <a:p>
            <a:pPr marL="36900" indent="0">
              <a:buNone/>
            </a:pPr>
            <a:r>
              <a:rPr lang="en-US" sz="5000" b="1" dirty="0">
                <a:solidFill>
                  <a:schemeClr val="bg2"/>
                </a:solidFill>
              </a:rPr>
              <a:t>Core Models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2"/>
                </a:solidFill>
              </a:rPr>
              <a:t>CustomUser</a:t>
            </a:r>
            <a:endParaRPr lang="en-US" sz="4000" dirty="0">
              <a:solidFill>
                <a:schemeClr val="bg2"/>
              </a:solidFill>
            </a:endParaRP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2"/>
                </a:solidFill>
              </a:rPr>
              <a:t>OTPVerification</a:t>
            </a:r>
            <a:endParaRPr lang="en-US" sz="4000" dirty="0">
              <a:solidFill>
                <a:schemeClr val="bg2"/>
              </a:solidFill>
            </a:endParaRP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/>
                </a:solidFill>
              </a:rPr>
              <a:t>Attendance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/>
                </a:solidFill>
              </a:rPr>
              <a:t>Leave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/>
                </a:solidFill>
              </a:rPr>
              <a:t>Task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2"/>
                </a:solidFill>
              </a:rPr>
              <a:t>NotificationLog</a:t>
            </a:r>
            <a:endParaRPr lang="en-US" sz="4000" dirty="0">
              <a:solidFill>
                <a:schemeClr val="bg2"/>
              </a:solidFill>
            </a:endParaRP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 err="1">
                <a:solidFill>
                  <a:schemeClr val="bg2"/>
                </a:solidFill>
              </a:rPr>
              <a:t>AuditLog</a:t>
            </a:r>
            <a:endParaRPr lang="en-US" sz="4000" dirty="0">
              <a:solidFill>
                <a:schemeClr val="bg2"/>
              </a:solidFill>
            </a:endParaRPr>
          </a:p>
          <a:p>
            <a:pPr marL="36900" indent="0">
              <a:buNone/>
            </a:pPr>
            <a:r>
              <a:rPr lang="en-US" sz="5000" b="1" dirty="0">
                <a:solidFill>
                  <a:schemeClr val="bg2"/>
                </a:solidFill>
              </a:rPr>
              <a:t>Database Features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/>
                </a:solidFill>
              </a:rPr>
              <a:t>Foreign key constraints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/>
                </a:solidFill>
              </a:rPr>
              <a:t>Unique attendance per employee per date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/>
                </a:solidFill>
              </a:rPr>
              <a:t>Leave overlap validation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2"/>
                </a:solidFill>
              </a:rPr>
              <a:t>Cascading deletes</a:t>
            </a:r>
          </a:p>
          <a:p>
            <a:pPr marL="369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993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Notification System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dirty="0">
                <a:solidFill>
                  <a:schemeClr val="bg2"/>
                </a:solidFill>
              </a:rPr>
              <a:t>Automated Email Notifications for: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Account creation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OTP verification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Task assignment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Leave approval/rejection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Attendance approval</a:t>
            </a:r>
          </a:p>
          <a:p>
            <a:pPr marL="36900" indent="0">
              <a:buClr>
                <a:schemeClr val="bg2"/>
              </a:buClr>
              <a:buNone/>
            </a:pPr>
            <a:r>
              <a:rPr lang="en-US" sz="1600" dirty="0">
                <a:solidFill>
                  <a:schemeClr val="bg2"/>
                </a:solidFill>
              </a:rPr>
              <a:t>notifications are logged for auditing purposes. </a:t>
            </a:r>
          </a:p>
          <a:p>
            <a:pPr marL="3690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Implementation Plan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b="1" dirty="0">
                <a:solidFill>
                  <a:schemeClr val="bg2"/>
                </a:solidFill>
              </a:rPr>
              <a:t>Phase 1 – Authentication &amp; Admin Setup</a:t>
            </a:r>
          </a:p>
          <a:p>
            <a:pPr marL="36900" indent="0">
              <a:buNone/>
            </a:pPr>
            <a:r>
              <a:rPr lang="en-US" b="1" dirty="0">
                <a:solidFill>
                  <a:schemeClr val="bg2"/>
                </a:solidFill>
              </a:rPr>
              <a:t>Phase 2 – HR Workflow Development</a:t>
            </a:r>
          </a:p>
          <a:p>
            <a:pPr marL="36900" indent="0">
              <a:buNone/>
            </a:pPr>
            <a:r>
              <a:rPr lang="en-US" b="1" dirty="0">
                <a:solidFill>
                  <a:schemeClr val="bg2"/>
                </a:solidFill>
              </a:rPr>
              <a:t>Phase 3 – Employee Dashboard &amp; UI</a:t>
            </a:r>
          </a:p>
          <a:p>
            <a:pPr marL="36900" indent="0">
              <a:buNone/>
            </a:pPr>
            <a:r>
              <a:rPr lang="en-US" b="1" dirty="0">
                <a:solidFill>
                  <a:schemeClr val="bg2"/>
                </a:solidFill>
              </a:rPr>
              <a:t>Phase 4 – Testing &amp; Optimization</a:t>
            </a:r>
          </a:p>
          <a:p>
            <a:pPr marL="36900" indent="0">
              <a:buNone/>
            </a:pPr>
            <a:r>
              <a:rPr lang="en-US" b="1" dirty="0">
                <a:solidFill>
                  <a:schemeClr val="bg2"/>
                </a:solidFill>
              </a:rPr>
              <a:t>Phase 5 – Deployment</a:t>
            </a:r>
          </a:p>
          <a:p>
            <a:pPr marL="36900" indent="0">
              <a:buNone/>
            </a:pPr>
            <a:r>
              <a:rPr lang="en-US" b="1" dirty="0">
                <a:solidFill>
                  <a:schemeClr val="bg2"/>
                </a:solidFill>
              </a:rPr>
              <a:t>Deployment Model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Web-based application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HTTPS enabled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Database backup configured</a:t>
            </a:r>
          </a:p>
          <a:p>
            <a:pPr marL="3690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</a:rPr>
              <a:t>Risk Management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B2C43-1BE1-5FD4-8A0D-3FA1CE139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51595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>
                <a:solidFill>
                  <a:schemeClr val="bg2"/>
                </a:solidFill>
              </a:rPr>
              <a:t>Identified Risks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Unauthorized access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Data inconsistency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Email delivery failures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Performance bottlenecks</a:t>
            </a:r>
          </a:p>
          <a:p>
            <a:pPr marL="36900" indent="0">
              <a:buNone/>
            </a:pPr>
            <a:r>
              <a:rPr lang="en-US" b="1" dirty="0">
                <a:solidFill>
                  <a:schemeClr val="bg2"/>
                </a:solidFill>
              </a:rPr>
              <a:t>Mitigation Strategies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Role-based middleware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Audit logging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OTP expiration logic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Database constraints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2"/>
                </a:solidFill>
              </a:rPr>
              <a:t>Performance testing</a:t>
            </a:r>
          </a:p>
          <a:p>
            <a:pPr marL="3690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Business Impact &amp; Future Enhancements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702640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b="1" dirty="0">
                <a:solidFill>
                  <a:schemeClr val="bg2"/>
                </a:solidFill>
              </a:rPr>
              <a:t>Business Impact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Reduced HR manual workload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Improved employee transparency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Faster payroll operations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Data-driven decision making</a:t>
            </a:r>
          </a:p>
          <a:p>
            <a:pPr marL="36900" indent="0">
              <a:buNone/>
            </a:pPr>
            <a:r>
              <a:rPr lang="en-US" b="1" dirty="0">
                <a:solidFill>
                  <a:schemeClr val="bg2"/>
                </a:solidFill>
              </a:rPr>
              <a:t>Future Enhancements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Biometric Integration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AI-based performance scoring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Mobile App Version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Multi-branch support</a:t>
            </a:r>
          </a:p>
          <a:p>
            <a:pPr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SMS notifications</a:t>
            </a:r>
          </a:p>
          <a:p>
            <a:pPr marL="36900" indent="0"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110</TotalTime>
  <Words>537</Words>
  <Application>Microsoft Office PowerPoint</Application>
  <PresentationFormat>On-screen Show (4:3)</PresentationFormat>
  <Paragraphs>161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Calisto MT</vt:lpstr>
      <vt:lpstr>ui-sans-serif</vt:lpstr>
      <vt:lpstr>Wingdings 2</vt:lpstr>
      <vt:lpstr>Slate</vt:lpstr>
      <vt:lpstr>Employee Management System (EMS)</vt:lpstr>
      <vt:lpstr>Executive Summary</vt:lpstr>
      <vt:lpstr>Business Objectives</vt:lpstr>
      <vt:lpstr>System Architecture</vt:lpstr>
      <vt:lpstr>User Roles &amp; Access Control</vt:lpstr>
      <vt:lpstr>Authentication &amp; Security</vt:lpstr>
      <vt:lpstr>Admin Module</vt:lpstr>
      <vt:lpstr>HR Module</vt:lpstr>
      <vt:lpstr>Employee Module</vt:lpstr>
      <vt:lpstr>Real-Time Dashboard Analytics</vt:lpstr>
      <vt:lpstr>Database Design</vt:lpstr>
      <vt:lpstr>Notification System</vt:lpstr>
      <vt:lpstr>Implementation Plan</vt:lpstr>
      <vt:lpstr>Risk Management</vt:lpstr>
      <vt:lpstr>Business Impact &amp; 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Shweta Kaliramana</dc:creator>
  <cp:keywords/>
  <dc:description>generated using python-pptx</dc:description>
  <cp:lastModifiedBy>Akshit Jain</cp:lastModifiedBy>
  <cp:revision>10</cp:revision>
  <dcterms:created xsi:type="dcterms:W3CDTF">2013-01-27T09:14:16Z</dcterms:created>
  <dcterms:modified xsi:type="dcterms:W3CDTF">2026-02-20T04:59:05Z</dcterms:modified>
  <cp:category/>
</cp:coreProperties>
</file>